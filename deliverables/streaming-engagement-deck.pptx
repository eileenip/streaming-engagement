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Titles matched</c:v>
                </c:pt>
              </c:strCache>
            </c:strRef>
          </c:tx>
          <c:spPr>
            <a:solidFill>
              <a:srgbClr val="0E6E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Name, normalised</c:v>
                  </c:pt>
                  <c:pt idx="1">
                    <c:v>Series prefix (a named arc)</c:v>
                  </c:pt>
                  <c:pt idx="2">
                    <c:v>Alternate-language name</c:v>
                  </c:pt>
                  <c:pt idx="3">
                    <c:v>Spacing (S.W.A.T. ↔ swat)</c:v>
                  </c:pt>
                  <c:pt idx="4">
                    <c:v>Qualifier dropped</c:v>
                  </c:pt>
                  <c:pt idx="5">
                    <c:v>Fuzzy, score ≥ 87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21450</c:v>
                </c:pt>
                <c:pt idx="1">
                  <c:v>660</c:v>
                </c:pt>
                <c:pt idx="2">
                  <c:v>450</c:v>
                </c:pt>
                <c:pt idx="3">
                  <c:v>133</c:v>
                </c:pt>
                <c:pt idx="4">
                  <c:v>95</c:v>
                </c:pt>
                <c:pt idx="5">
                  <c:v>284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6B728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6181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Delivery ratio</c:v>
                </c:pt>
              </c:strCache>
            </c:strRef>
          </c:tx>
          <c:spPr>
            <a:solidFill>
              <a:srgbClr val="0E6E7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E6E7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E6E7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6E7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3A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3A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4553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B4553C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Family</c:v>
                  </c:pt>
                  <c:pt idx="1">
                    <c:v>Animation</c:v>
                  </c:pt>
                  <c:pt idx="2">
                    <c:v>Drama</c:v>
                  </c:pt>
                  <c:pt idx="3">
                    <c:v>Comedy</c:v>
                  </c:pt>
                  <c:pt idx="4">
                    <c:v>Crime</c:v>
                  </c:pt>
                  <c:pt idx="5">
                    <c:v>Thriller</c:v>
                  </c:pt>
                  <c:pt idx="6">
                    <c:v>Documentary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1.65</c:v>
                </c:pt>
                <c:pt idx="1">
                  <c:v>1.32</c:v>
                </c:pt>
                <c:pt idx="2">
                  <c:v>1.09</c:v>
                </c:pt>
                <c:pt idx="3">
                  <c:v>1.07</c:v>
                </c:pt>
                <c:pt idx="4">
                  <c:v>0.93</c:v>
                </c:pt>
                <c:pt idx="5">
                  <c:v>0.66</c:v>
                </c:pt>
                <c:pt idx="6">
                  <c:v>0.44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6B728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181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Titles</c:v>
                </c:pt>
              </c:strCache>
            </c:strRef>
          </c:tx>
          <c:spPr>
            <a:solidFill>
              <a:srgbClr val="C3CBD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3CBD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3CBD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3CBD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3CBD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E6E7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3CBD1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3CBD1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3CBD1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-4</c:v>
                  </c:pt>
                  <c:pt idx="1">
                    <c:v>-3</c:v>
                  </c:pt>
                  <c:pt idx="2">
                    <c:v>-2</c:v>
                  </c:pt>
                  <c:pt idx="3">
                    <c:v>-1</c:v>
                  </c:pt>
                  <c:pt idx="4">
                    <c:v>0</c:v>
                  </c:pt>
                  <c:pt idx="5">
                    <c:v>+1</c:v>
                  </c:pt>
                  <c:pt idx="6">
                    <c:v>+3</c:v>
                  </c:pt>
                  <c:pt idx="7">
                    <c:v>+4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</c:v>
                </c:pt>
                <c:pt idx="1">
                  <c:v>1</c:v>
                </c:pt>
                <c:pt idx="2">
                  <c:v>2</c:v>
                </c:pt>
                <c:pt idx="3">
                  <c:v>4</c:v>
                </c:pt>
                <c:pt idx="4">
                  <c:v>47</c:v>
                </c:pt>
                <c:pt idx="5">
                  <c:v>3</c:v>
                </c:pt>
                <c:pt idx="6">
                  <c:v>4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6B728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181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Netflix files that disagree with each other, IMDb, and Wikipedia, resolved into one star schema. The engineering question comes before the business question: can these be joined at all, and what is lost in the attempt?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awkwardness is the point: the sources are real, public, and genuinely inconsistent.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Rewatch data would test the Family mechanism directly; per-country data would separate 'non-English holds longer' from 'competes in a thinner category'. Neither is public, which is why the finding is framed as a measurement rather than an explanation.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0020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sources, one model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24688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titles are earning their place — and what it takes to answer that from four public files that share no key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B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Eileen Ip · portfolio project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files, no shared key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does not even agree with itself between its own two files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4114800" cy="713232"/>
          </a:xfrm>
          <a:prstGeom prst="roundRect">
            <a:avLst>
              <a:gd name="adj" fmla="val 7692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67512" y="1554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engagement report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82880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half-years · 97,738 rows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1591056"/>
            <a:ext cx="3794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and views per season. Seven editions in three layouts.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322576"/>
            <a:ext cx="4114800" cy="713232"/>
          </a:xfrm>
          <a:prstGeom prst="roundRect">
            <a:avLst>
              <a:gd name="adj" fmla="val 7692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512" y="23957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Global Top 10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267004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272 weeks · 10,880 slots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2432304"/>
            <a:ext cx="3794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ranks. One live file, retitled retroactively.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163824"/>
            <a:ext cx="4114800" cy="713232"/>
          </a:xfrm>
          <a:prstGeom prst="roundRect">
            <a:avLst>
              <a:gd name="adj" fmla="val 7692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7512" y="323697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IMDb datasets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" y="3511296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2.8M candidate titles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3273552"/>
            <a:ext cx="3794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year, genre, rating. Its own id scheme, shared with nothing.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4005072"/>
            <a:ext cx="4114800" cy="713232"/>
          </a:xfrm>
          <a:prstGeom prst="roundRect">
            <a:avLst>
              <a:gd name="adj" fmla="val 7692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" y="40782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Wikipedia pageviews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67512" y="435254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229 titles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4114800"/>
            <a:ext cx="3794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attention off the platform. English only, rate-limited.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data does when you look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no documentation mentions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8138160" cy="1042416"/>
          </a:xfrm>
          <a:prstGeom prst="roundRect">
            <a:avLst>
              <a:gd name="adj" fmla="val 526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" y="1792224"/>
            <a:ext cx="146304" cy="146304"/>
          </a:xfrm>
          <a:prstGeom prst="ellipse">
            <a:avLst/>
          </a:prstGeom>
          <a:solidFill>
            <a:srgbClr val="0E6E78"/>
          </a:solidFill>
          <a:ln w="12700">
            <a:solidFill>
              <a:srgbClr val="0E6E7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96696" y="159105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10 file is a live view, not an archive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96696" y="186537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Berlin charted in December 2023 under that name. The file now labels those same 2023 weeks “Berlin and the Jewels of Paris”, because season 2 arrived in 2026 and season 1 was renamed. Nine of the thirteen unmatched Top 10 titles appear only in later reports.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8138160" cy="1042416"/>
          </a:xfrm>
          <a:prstGeom prst="roundRect">
            <a:avLst>
              <a:gd name="adj" fmla="val 526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2962656"/>
            <a:ext cx="146304" cy="146304"/>
          </a:xfrm>
          <a:prstGeom prst="ellipse">
            <a:avLst/>
          </a:prstGeom>
          <a:solidFill>
            <a:srgbClr val="0E6E78"/>
          </a:solidFill>
          <a:ln w="12700">
            <a:solidFill>
              <a:srgbClr val="0E6E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96696" y="276148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contradicts itself inside one half-year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96696" y="3035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10 calls Sean Combs: The Reckoning “Season 1” where the engagement report calls it “Limited Series”, and omits The Manny’s season entirely.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803904"/>
            <a:ext cx="8138160" cy="1042416"/>
          </a:xfrm>
          <a:prstGeom prst="roundRect">
            <a:avLst>
              <a:gd name="adj" fmla="val 526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4088" y="4133088"/>
            <a:ext cx="146304" cy="146304"/>
          </a:xfrm>
          <a:prstGeom prst="ellipse">
            <a:avLst/>
          </a:prstGeom>
          <a:solidFill>
            <a:srgbClr val="57B8A0"/>
          </a:solidFill>
          <a:ln w="12700">
            <a:solidFill>
              <a:srgbClr val="57B8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96696" y="39319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facts in one string, in a dozen shapes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96696" y="420624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Suits (2011): Season 1 · Stranger Things 4 · Aquí no hay quien viva (2003): Temporada 4 · Law &amp; Order: SVU: The Sixth Year · Raw: June 15, 2025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join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string matching, with no normalisation, gets 54–57%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60020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6E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99.5%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→ engagement report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2,764 charting title-periods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60020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6E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92.7%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titles → IMDb id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film 96.8% · TV 85.0%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160020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7B8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98.8%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reported viewing hours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 on a title with an IMDb id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34670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all of the gain is normalisation, not string distance.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639312"/>
            <a:ext cx="7863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Fuzzy matching contributes one pair on the first join and 284 on the second. The rest is parsing the title properly: the season marker, the disambiguating year, the alternate-language name after " // ", and the acronym that IMDb spells without full stops.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ladder, not a similarity score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rung counted separately, so a weak one can be inspected — or switched off</a:t>
            </a:r>
            <a:endParaRPr lang="en-US" sz="13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46304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126480" y="1463040"/>
            <a:ext cx="2514600" cy="3108960"/>
          </a:xfrm>
          <a:prstGeom prst="roundRect">
            <a:avLst>
              <a:gd name="adj" fmla="val 2182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327648" y="16276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 is 88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327648" y="193852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by reading the near-miss list band by band, not by picking a round number. The 88–90 band is mostly true matches; 85–88 is genuinely mixed.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327648" y="288036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pairs it correctly rejects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327648" y="31546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 (Hindi) → jai hind sir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Matsumoto Seicho's Kao → …no ekiro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Louis C.K.: Ridiculous → ridiculous cakes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star schema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fact row is a season in a period; a dimension row is the whole title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3429000" y="2240280"/>
            <a:ext cx="2286000" cy="868680"/>
          </a:xfrm>
          <a:prstGeom prst="roundRect">
            <a:avLst>
              <a:gd name="adj" fmla="val 6316"/>
            </a:avLst>
          </a:prstGeom>
          <a:solidFill>
            <a:srgbClr val="0E6E78"/>
          </a:solidFill>
          <a:ln w="12700">
            <a:solidFill>
              <a:srgbClr val="0E6E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429000" y="23865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dim_title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429000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6E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24,902 titles · 92.7% with an IMDb id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22960" y="141732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15087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fact_engagement_halfyear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178308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97,738 rows · a season in a period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08960" y="1805940"/>
            <a:ext cx="320040" cy="525780"/>
          </a:xfrm>
          <a:prstGeom prst="line">
            <a:avLst/>
          </a:prstGeom>
          <a:noFill/>
          <a:ln w="15875">
            <a:solidFill>
              <a:srgbClr val="57B8A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35040" y="141732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44768" y="15087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fact_top10_weekly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144768" y="178308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10,880 slots · 272 weeks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 flipV="1">
            <a:off x="5715000" y="1805940"/>
            <a:ext cx="320040" cy="525780"/>
          </a:xfrm>
          <a:prstGeom prst="line">
            <a:avLst/>
          </a:prstGeom>
          <a:noFill/>
          <a:ln w="15875">
            <a:solidFill>
              <a:srgbClr val="57B8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61188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" y="37033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fact_pageviews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" y="397764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229 titles · daily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 flipV="1">
            <a:off x="3108960" y="3017520"/>
            <a:ext cx="320040" cy="982980"/>
          </a:xfrm>
          <a:prstGeom prst="line">
            <a:avLst/>
          </a:prstGeom>
          <a:noFill/>
          <a:ln w="15875">
            <a:solidFill>
              <a:srgbClr val="57B8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35040" y="361188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44768" y="37033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dim_period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144768" y="397764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reports · start, end, checksum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715000" y="3017520"/>
            <a:ext cx="320040" cy="982980"/>
          </a:xfrm>
          <a:prstGeom prst="line">
            <a:avLst/>
          </a:prstGeom>
          <a:noFill/>
          <a:ln w="15875">
            <a:solidFill>
              <a:srgbClr val="57B8A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02920" y="45262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period is data, not schema: Netflix goes annual in 2027, and that report is an INSERT rather than a migration.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Watched more than they chart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reported hours ÷ share of Top 10 slots. The chart is capped at ten slots a week; hours are not.</a:t>
            </a:r>
            <a:endParaRPr lang="en-US" sz="13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572768"/>
          <a:ext cx="5669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46520" y="1572768"/>
            <a:ext cx="2194560" cy="3017520"/>
          </a:xfrm>
          <a:prstGeom prst="roundRect">
            <a:avLst>
              <a:gd name="adj" fmla="val 25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629400" y="173736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this way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629400" y="2048256"/>
            <a:ext cx="1874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at 1.65 is watched far more than its chart presence suggests — kids' titles accumulate hours without ever charting. Documentaries do the reverse.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Coloured bars are the genres whose 95% interval clears parity; grey means it does not.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better rating does not hold the chart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raw correlation says otherwise — until size is held constant. n = 2,292.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6459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+0.06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32257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of chart time per rating point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interval -0.03 to 0.17 — it contains zero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6459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6E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+3.6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232257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per tenfold increase in hours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is what predicts chart time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16459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7B8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+1.1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232257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for a non-English title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category, with its own ten slots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3310128"/>
            <a:ext cx="8138160" cy="1143000"/>
          </a:xfrm>
          <a:prstGeom prst="roundRect">
            <a:avLst>
              <a:gd name="adj" fmla="val 48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493008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raw correlation is 0.118 and significant. It is size in disguise: big titles get watched, rated and charted together. Holding hours, votes, type and language constant leaves nothing.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 arrives the same week, not before it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Best-fitting lag between weekly Wikipedia pageviews and weekly Top 10 hours, 63 titles</a:t>
            </a:r>
            <a:endParaRPr lang="en-US" sz="13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572768"/>
          <a:ext cx="56692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44988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Wikipedia leads (−) or lags (+)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446520" y="1572768"/>
            <a:ext cx="2194560" cy="2926080"/>
          </a:xfrm>
          <a:prstGeom prst="roundRect">
            <a:avLst>
              <a:gd name="adj" fmla="val 25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629400" y="173736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head start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629400" y="2048256"/>
            <a:ext cx="1874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of 63 titles fit best at lag zero; 8 lead and 8 lag. There is no forecasting signal here.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same-week link is real: pairing a title's hours with a different title's pageviews drops the correlation from 0.82 to 0.23.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cannot tell you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up front, because each one bounds a decision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67512" y="15910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Half-yearly hours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86537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finest grain for viewing is six months. Nothing here speaks to a launch week.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481328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28032" y="15910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Rounded and floored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828032" y="186537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are published to the nearest 100,000, with a 100,000 floor. The long tail is missing.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532888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7512" y="26426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67512" y="29169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only. No figure here is a market share.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2532888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28032" y="26426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is IMDb's, not Netflix's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828032" y="29169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 title with three genres counts in all three.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584448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" y="36941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Wikipedia only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67512" y="3968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covers 229 titles. Non-English titles are half the chart and are under-represented.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3584448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28032" y="36941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chart is zero-sum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828032" y="3968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slots per category per week exist whatever is released — it measures competition too.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do about it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how much I would stake on each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773936"/>
            <a:ext cx="146304" cy="146304"/>
          </a:xfrm>
          <a:prstGeom prst="ellipse">
            <a:avLst/>
          </a:prstGeom>
          <a:solidFill>
            <a:srgbClr val="0E6E78"/>
          </a:solidFill>
          <a:ln w="12700">
            <a:solidFill>
              <a:srgbClr val="0E6E7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78408" y="153619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renewals on hours per week, within genre and language — and require the chart to agree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78408" y="181051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measures correlate at 0.18. The disagreements are the decision: a big opening with no legs is a marketing result; steady hours with no chart presence is an audience the chart cannot see.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233172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642616"/>
            <a:ext cx="146304" cy="146304"/>
          </a:xfrm>
          <a:prstGeom prst="ellipse">
            <a:avLst/>
          </a:prstGeom>
          <a:solidFill>
            <a:srgbClr val="57B8A0"/>
          </a:solidFill>
          <a:ln w="12700">
            <a:solidFill>
              <a:srgbClr val="57B8A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78408" y="240487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screening kids' and family content on chart presence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78408" y="267919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delivers 1.65× the viewing its chart presence implies, Animation 1.32 — both intervals clear of parity. Documentary (0.44) and Thriller (0.67) run the other way.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320040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511296"/>
            <a:ext cx="146304" cy="146304"/>
          </a:xfrm>
          <a:prstGeom prst="ellipse">
            <a:avLst/>
          </a:prstGeom>
          <a:solidFill>
            <a:srgbClr val="57B8A0"/>
          </a:solidFill>
          <a:ln w="12700">
            <a:solidFill>
              <a:srgbClr val="57B8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78408" y="32735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IMDb rating from renewal inputs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78408" y="354787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correlation 0.118 and significant; with size held constant, 0.06 weeks per point, interval −0.03 to +0.17. It survives no control at all.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406908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" y="4379976"/>
            <a:ext cx="146304" cy="146304"/>
          </a:xfrm>
          <a:prstGeom prst="ellipse">
            <a:avLst/>
          </a:prstGeom>
          <a:solidFill>
            <a:srgbClr val="57B8A0"/>
          </a:solidFill>
          <a:ln w="12700">
            <a:solidFill>
              <a:srgbClr val="57B8A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78408" y="41422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build an early warning on public attention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78408" y="441655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Wikipedia moves the same week, not before. Useful as corroboration, and after a title leaves the chart — not as a forecast.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2344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would change the answer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920240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9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Rewatch data would test the Family mechanism directly — this data cannot.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9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Per-country data would separate “non-English titles hold the chart longer” from “they compete in a thinner category”.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9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platform would show whether any of this is about Netflix or about streaming.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2461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B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three is public. That is why the strongest finding here is framed as a measurement, not an explanation.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0690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end to end: python -m src.match_report · src.model · src.analysis · src.dashboard. 75 tests. IMDb data used under its non-commercial terms. Interpretation drafted by the agent, 2026-09-27; the checkpoint decisions are Eileen's and are recorded in data/validation/.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Streaming Engagement — four sources, one model</dc:title>
  <dc:subject>PptxGenJS Presentation</dc:subject>
  <dc:creator>Eileen Ip</dc:creator>
  <cp:lastModifiedBy>Eileen Ip</cp:lastModifiedBy>
  <cp:revision>1</cp:revision>
  <dcterms:created xsi:type="dcterms:W3CDTF">2026-10-04T11:13:31Z</dcterms:created>
  <dcterms:modified xsi:type="dcterms:W3CDTF">2026-10-04T11:13:31Z</dcterms:modified>
</cp:coreProperties>
</file>